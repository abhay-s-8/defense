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3891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HUMAN-CENTERED FINANCIAL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DEFENSE LAB</a:t>
            </a:r>
          </a:p>
          <a:p>
            <a:pPr>
              <a:defRPr sz="2200" b="1">
                <a:solidFill>
                  <a:srgbClr val="F59E0B"/>
                </a:solidFill>
              </a:defRPr>
            </a:pPr>
            <a:r>
              <a:t>Protecting People, Payments &amp; Networks with the 3-Layer Defense Triad</a:t>
            </a:r>
          </a:p>
          <a:p>
            <a:pPr>
              <a:defRPr sz="1400" i="1">
                <a:solidFill>
                  <a:srgbClr val="94A3B8"/>
                </a:solidFill>
              </a:defRPr>
            </a:pPr>
            <a:r>
              <a:t>"Because modern fraud doesn't hack computers — it hacks human psychology."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1. Protect the Human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Captures live keystroke rhythm &amp; stress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Detects active phone calls &amp; coercion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Intercepts Digital Arrest scams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2. Secure the Transaction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Server-side anti-tamper feature store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Evaluates 1,000 transactions in 32ms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TreeSHAP exact mathematical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3. Trace the Network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Uncovers cyclic money laundering loops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Detects 10-node smurfing fan-outs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Freezes entire mule rings in one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Team: IRON  |  Live Prototype: https://defense-six.vercel.app/  |  GitHub: https://github.com/Abhay-s-8/defense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REAL-WORLD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₹50 Lakh Phone Call: Why Traditional Bank AI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When victims are manipulated into sending money themselves, traditional algorithms see zero anomalies.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 Real-World Scenario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1. The Setup: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A 62-year-old retired citizen receives a fake CBI/Police video call.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Scammers claim their Aadhaar is linked to money laundering.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Under extreme fear, they are ordered to transfer ₹10 Lakhs immediately.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2. The Transaction: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The victim opens their own banking app on their regular phone.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Enters their genuine PIN, biometric fingerprint, and OTP.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3. Why Traditional AI Approves It: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Device ID is genuine, IP address is legitimate home Wi-Fi.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Zero failed password attempts.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Result: Life savings vanish in seconds without an alarm.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The 3 Blind Spots in Modern Banking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1. The Coerced Human (Layer 1 Blind Spot):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Traditional models don't look at user interaction stress, long hesitation pauses, or active calls during payment.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2. The Distributed Mule Web (Layer 3 Blind Spot):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Attackers break stolen money into 200 micro-payments of ₹2,000 across sleeper accounts. Row-by-row models miss the network.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3. The Static Rule Shield: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Once deployed, banking models stay frozen while cybercriminals adapt low-and-slow stealth tactics.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Our Mission: Build a humanized, self-healing 3-layer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3-Layer Safety Net: From Keystroke to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Protecting transactions across the three distinct spaces where financial crime actually happens.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Layer 1: The Human Space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Behavioral Biometrics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Focus: Coercion &amp; Interaction Rhythm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Captures live keystroke dwell &amp; flight times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Flags long hesitation pauses (&gt;4.5s)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Detects ongoing voice calls during input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Stops Digital Arrest scams at checkout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Fusion Weight: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Layer 2: The Data Space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Fortified XGBoost V4 Engine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Focus: Speed, Velocity &amp; Math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Server-side real-time feature store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Anti-injection: zero client metadata trust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1,000 transactions scored in 32ms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TreeSHAP exact mathematical weights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Fusion Weight: 50%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Layer 3: The Network Space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GNN Mule Ring Analyzer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Focus: Account Graphs &amp; Smurfing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Directed graph tracking money flows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Cyclic fund routing (A → B → C → A)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Fan-out smurfing &amp; mule aggregation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Freezes entire syndicates at once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Fusion Weight: 30%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1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Protecting the Coerced User: Keystroke &amp; Call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we catch psychological distress and automated scripts before a payment is dispatched.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What the Engine Senses in Real Time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1. Live Typing Rhythm (Dwell &amp; Flight Times):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Genuine humans type with natural cadence (~90-160ms per key).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Bots type with robotic 0ms variance or inhuman speed (&lt;25ms).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2. The Psychological Distress Signature: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Extreme hesitation pause on the 'Pay' button (&gt;4.5 seconds).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Elevated backspace count (anxious corrections).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Active voice call active during checkout (Vishing marker).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3. Remote Screen Overlays: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Detects AnyDesk/TeamViewer background hooks.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The Life-Saving Safety Intervention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What Happens When Coercion is Sensed: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1: User types payment while pressured on a scam call.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2: Layer 1 detects active call + 6.8s submit hesitation.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3: Unified Engine triggers policy action: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DIRECTIVE: COERCION_SAFETY_INTERVENTION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ACTION: Pops an unclosable scam warning modal &amp; enforces a 15-minute cooling-off delay.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Result: Breaks the scammer's psychological grip; citizen calls family/police before money leaves.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2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Sub-Millisecond Fraud Math: Zero Client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we score 1,000 transactions in 32ms and eliminate client-side feature tampering.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Anti-Tamper Real-Time Feature Store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The Fatal Flaw in Many Fraud APIs: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Naive systems trust client payloads (e.g. client says velocity is 1).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Hackers edit the JSON payload to fool the model.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Our Fix (RealTimeFeatureStore):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Accepts raw minimal payment (₹ Amount, Merchant, Card).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Server computes rolling 5-minute velocity independently.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Server derives historical 30-day spending averages.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Threat-intel IP reputation verified server-side.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Zero Client Trust &amp; Tamper-Proof Ingestion.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32ms Vectorized Speed &amp; TreeSHAP Math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Vectorized Batch Inference: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Single-pass Pandas matrix manipulation.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Evaluates 1,000 transactions in 32 milliseconds (0.032s).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Ready for high-volume gateways like UPI / NPCI.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Exact TreeSHAP Mathematical Proof: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Extracts exact booster tree split weights (`pred_contribs=True`).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Identifies positive risk drivers: `[+] Velocity (+3.44)`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Identifies negative safety anchors: `[-] Device Age (-0.74)`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Eliminates LLM hallucinations in compliance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3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Detective Work on Graphs: Dismantling Mule 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Graph Neural Network analysis catches coordinated smurfing and cyclic money laundering.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How Graph Link Analysis Works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1. Directed Fund-Flow Topology: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Maps real-time relationships between accounts, cards, and merchants.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2. Cyclic Money Laundering Detection: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Detects closed wash-trading loops (A → B → C → A).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Catches syndicates recycling funds to disguise their origin.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3. Smurfing Fan-Out &amp; Aggregation: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Flags accounts rapidly dispersing micro-transfers to 4+ sleeper mules.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Flags destination accounts with rapid high in-degree inflows.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The Syndicate Freeze Action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Scenario: Criminal syndicate laundering ₹25 Lakhs.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1: Stolen funds dispersed across 5 sleeper mule accounts.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2: GNN engine traces directed edges and flags high degree fan-out.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3: Mules attempt to funnel funds back to an aggregator.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Step 4: Cyclic flow algorithm flags closed laundering loop.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DIRECTIVE: MULE_SYNDICATE_FREEZE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ACTION: Isolates the entire sub-graph and freezes all connected mule accounts in one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POLICY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Unified Decision Fusion: Frictionless Yet Impenetrable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Balancing zero-friction everyday purchases with targeted interventions against real threats.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1. Frictionless Approval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Risk Score: 0% - 34%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Color: Emerald Green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Genuine biometrics &amp; normal cadence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Expected spend within 30d baseline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Clean graph node topology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99% of normal users enjoy instant, seamless checkout without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2. Step-Up 2FA Challenge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Risk Score: 35% - 69%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Color: Amber Yellow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Moderate behavioral velocity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New device or late-night timing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No coercion flags detected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Prompts for FIDO2 WebAuthn or Biometric Passkey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3. Targeted Interventions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Specialized Defense Directives: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COERCION_SAFETY_INTERVENTION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Triggered by voice call + severe hesitation.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Introduces 15-min scam cooling delay.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MULE_SYNDICATE_FREEZE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Triggered by cyclic laundering loop / smurfing.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Freezes entire multi-node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ADVERSARIAL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Red Team Simulator: An AI That Attacks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Constantly stress-testing our defenses with 6 distinct attack families to eliminate zero-day blind spots.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1. Account Takeover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New device + high IP risk + location shift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Repeated password failures prior to tx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2. Card Testing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Rapid velocity (15-30 txs / 5 mins)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Micro-amounts (₹1 - ₹100 probing)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3. Low &amp; Slow Stealth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Mimics normal daytime spend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Near-baseline amounts (0.8x - 1.2x)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4. Rapid Mule Drain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High velocity to newly created beneficiary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High amount deviation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5. Digital Arrest Coercion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Authentic device + active phone call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Severe hesitation and backspaces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6. Mule Syndicates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Multi-account cyclic fund loops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Fan-out smurfing across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SELF-HEALING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Closed-Loop Retraining: Learning from Every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our model turns missed attacks into defensive armor while keeping False Alarms under 0.8%.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The Secret: Balanced Replay Buffers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The Danger of Naive Retraining: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If a model only trains on new fraud, it forgets what normal users look like (Catastrophic Forgetting).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Result: Genuine customers get blocked, causing outrage.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Our Balanced Replay Solution: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Captures missed Red Team attacks.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Injects 1,200 normal benign transactions alongside them.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Retrains XGBoost with cross-entropy loss and early stopping.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Serializes fortified weights directly to disk.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Retains 100% normal user accuracy with zero forgetting.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Adversarial Benchmark Results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Round 2 (Initial Baseline Model):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5,000 Stealth Adversarial Attacks Launched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Detected: 582  |  Missed: 4,418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Detection Rate: 11.64%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Round 3 (After Closed-Loop Retraining):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5,000 Held-Out Adversarial Attacks Launched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Detected: 4,874  |  Missed: 126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Detection Rate: 97.48%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False Negatives Slashed by 97.15%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False Positive Rate Held at &lt;0.8%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EXPLAINABLE AI (XAI)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Grounded GenAI: Explanations Humans &amp; Regulators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Translating exact mathematical TreeSHAP feature weights into clear, compliance-ready 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Why Mathematical Grounding Matters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The Risk with Ungrounded LLMs: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Standard GenAI hallucinates explanations based on superficial guesses.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Fails strict banking regulations (RBI, GDPR, OCC).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Our TreeSHAP Grounded Approach: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Booster tree split margins extracted mathematically.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Top positive risk drivers: `[+] Velocity (+2.84)`, `[+] IP Risk (+2.70)`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Top negative safety anchors: `[-] Account Age (-0.13)`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LLM prompt strictly constrained to mathematical weights.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✓ 100% Mathematically Grounded &amp; Regulatory Compliant.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Sample Plain-Language Output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What the Fraud Officer &amp; Regulator Sees: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"Transaction flagged as FRAUD (99.31% probability).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The decision is mathematically driven by an abnormal surge in 5-minute velocity (+2.84 risk driver) and an elevated IP risk score (+2.70 risk driver).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Key Signals Observed: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[+] Transaction Velocity 5M (+2.84 risk driver)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[+] IP Risk Score (+2.70 risk driver)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[-] Account Age Days (-0.13 safety anchor)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Recommended Action: Trigger FIDO2 step-up challenge or route to Tier-2 fraud review."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Built for the Real World: Resilient, Fast &amp; Secure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for 100% demo uptime, high concurrency, and seamless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Resilient Storage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Hybrid Database Engine: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Primary: MongoDB Atlas.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Fallback: In-memory store.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Zero startup crashes.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100% uptime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High-Speed Inference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Vectorized Performance: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Vectorized Pandas batching.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1,000 attacks scored in 32ms.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Non-blocking workers.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Sub-second Red Team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API Hardening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Security &amp; Protection: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Sliding-window rate limiting.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Brute force defense on auth/predict.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Enterprise security headers.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• Model artifact disk serialization.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SUMMARY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Future of Payment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From reactive static scoring to continuous, multi-dimensional adversarial defense.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Key Breakthroughs Accomplished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1. The 3-Layer Defense Triad: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Layer 1 (Biometrics) stops Digital Arrest &amp; Social Engineering.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Layer 2 (XGBoost) stops takeover &amp; velocity anomalies in 32ms.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Layer 3 (GNN) dismantles multi-hop mule syndicates.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2. Self-Healing Adversarial Learning: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Closed-loop retraining boosts detection from 11.6% to 97.48%.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Balanced replay buffers hold False Positive Rate under 0.8%.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3. Grounded Explainable AI: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   • Exact TreeSHAP mathematical feature weighting.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Team IRON — Final Takeaway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"Fraud is not one-dimensional, and defense cannot be static."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By uniting interaction biometrics, high-speed transaction ML, and graph intelligence into one continuous learning loop, we establish a robust, self-healing payment defense perimeter.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  <a:r>
              <a:t>Attack. Detect. Learn. Defend.</a:t>
            </a:r>
          </a:p>
          <a:p>
            <a:pPr algn="l">
              <a:spcBef>
                <a:spcPts val="500"/>
              </a:spcBef>
              <a:defRPr sz="1200">
                <a:solidFill>
                  <a:srgbClr val="94A3B8"/>
                </a:solidFill>
              </a:defRPr>
            </a:pP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Team: IRON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Live Prototype: https://defense-six.vercel.app/</a:t>
            </a:r>
          </a:p>
          <a:p>
            <a:pPr algn="l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★ GitHub Repo: https://github.com/Abhay-s-8/defense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