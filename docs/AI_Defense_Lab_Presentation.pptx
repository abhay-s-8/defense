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1097280"/>
            <a:ext cx="4114800" cy="41148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B0F19"/>
                </a:solidFill>
              </a:defRPr>
            </a:pPr>
            <a:r>
              <a:t>AI-POWERED PAYMENT DEFENSE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AI DEFENSE LAB</a:t>
            </a:r>
          </a:p>
          <a:p>
            <a:pPr>
              <a:defRPr sz="2400" b="1">
                <a:solidFill>
                  <a:srgbClr val="F59E0B"/>
                </a:solidFill>
              </a:defRPr>
            </a:pPr>
            <a:r>
              <a:t>The Multi-Layered Defense Triad for Payment Security</a:t>
            </a:r>
          </a:p>
          <a:p>
            <a:pPr>
              <a:defRPr sz="1400">
                <a:solidFill>
                  <a:srgbClr val="94A3B8"/>
                </a:solidFill>
              </a:defRPr>
            </a:pPr>
            <a:r>
              <a:t>Red Team × Blue Team  •  Behavioral Biometrics  •  Fortified XGBoost  •  Graph Neural Networks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3931920"/>
            <a:ext cx="329184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Layer 1: Biometrics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Captures live keystroke flight/dwell rhythm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Detects Coercion &amp; Digital Arrest scams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Flags remote desktop &amp; bot automation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3931920"/>
            <a:ext cx="329184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Layer 2: XGBoost V4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Server-side real-time feature store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Vectorized inference: 1,000 txs in 32ms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Exact TreeSHAP mathematical grounding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3931920"/>
            <a:ext cx="329184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Layer 3: GNN Network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Analyzes directed fund-flow topologies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Detects multi-hop mule syndicates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Uncovers cyclic money laundering loops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179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Team: AITIANS  |  Army Institute of Technology, Pune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THE THREAT LANDSCAPE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Why Traditional Fraud Detectors Fail Against Modern Scams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Single-layer tabular models are fundamentally blind to modern social engineering and mule networks.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2918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1. Social Engineering Blind Spot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The Digital Arrest / Vishing Dilemma: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In APP scams, the genuine customer makes the payment themselves.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Device ID, location, and credentials are 100% authentic.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Standard ML models see zero anomalies and approve the transfer.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600"/>
              </a:spcBef>
              <a:defRPr sz="1200">
                <a:solidFill>
                  <a:srgbClr val="FFFFFF"/>
                </a:solidFill>
              </a:defRPr>
            </a:pPr>
            <a:r>
              <a:t>★ Missing Link: Interaction-level coercion &amp; hesitation telemetry.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2918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2. Distributed Mule Networks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Smurfing &amp; Multi-Hop Laundering: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Syndicates break stolen funds into 200 micro-payments of ₹2,000.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Single-transaction classifiers evaluate each payment in isolation.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No individual row triggers velocity or amount alarms.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600"/>
              </a:spcBef>
              <a:defRPr sz="1200">
                <a:solidFill>
                  <a:srgbClr val="FFFFFF"/>
                </a:solidFill>
              </a:defRPr>
            </a:pPr>
            <a:r>
              <a:t>★ Missing Link: Graph-level money-flow topology analysis.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2918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3. Static Model Decay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The Adversarial Cat-and-Mouse Game: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Fraudsters adapt to static rules and find low-and-slow blind spots.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Models score well on historical data but miss fresh evasion techniques.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Missed attacks are logged but rarely retrained systematically.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600"/>
              </a:spcBef>
              <a:defRPr sz="1200">
                <a:solidFill>
                  <a:srgbClr val="FFFFFF"/>
                </a:solidFill>
              </a:defRPr>
            </a:pPr>
            <a:r>
              <a:t>★ Missing Link: Continuous Red-Team adversarial learning loop.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CORE INNOVATION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Multi-Layered Defense Triad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A multi-dimensional defense platform protecting transactions from keystroke to settlement.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2918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Layer 1: Interaction Level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Behavioral Biometrics Engine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Focus: User Coercion &amp; Bot Telemetry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Real-time keystroke dwell &amp; flight time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Submission hesitation index (&gt;4.5s)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Active voice call &amp; remote desktop flags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Prevents Digital Arrest &amp; Session Hijack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Weight in Fusion: 20%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2918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Layer 2: Transaction Level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Fortified XGBoost V4 Engine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Focus: Behavioral Anomaly &amp; Velocity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Server-side real-time feature store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Anti-feature tampering &amp; deviation scoring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Vectorized batch inference (32ms / 1K)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Exact TreeSHAP mathematical explainability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Weight in Fusion: 50%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2918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Layer 3: Network Level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GNN Mule Ring Analyzer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Focus: Account Linkages &amp; Topology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Directed multigraph money-flow mapping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Cyclic fund routing detection (A→B→C→A)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Smurfing fan-out &amp; mule funneling alerts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Freezes coordinated syndicate clusters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Weight in Fusion: 30%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LAYER 1 DEEP-DIVE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Behavioral Biometrics: Defeating Scams at the Keystroke Level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Detecting psychological coercion and automated bots before the payment is even dispatched.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How Biometric Telemetry Works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1. Live Keystroke Dynamics: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   • Dwell Time: Duration key is held down (~90-150ms).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   • Flight Time: Transition time between keys (~120-280ms).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   • Bot Detection: Identifies inhuman 0ms key variance.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2. Psychological Coercion Indicators: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   • Excessive hesitation prior to submit (&gt;4.5 seconds pause).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   • High correction rate (frequent backspaces from anxiety).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   • Active voice call during checkout (Vishing signature).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3. Remote Screen Overlays: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   • Detects Anydesk/Teamviewer background hooks.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Live Scam Intervention Workflow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Scenario: Citizen targeted by Digital Arrest scammer.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Step 1: Scammer orders victim to transfer ₹1,00,000 immediately.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Step 2: Victim enters payment from genuine phone &amp; IP.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Step 3: Biometrics engine detects active phone call + 6.8s submit hesitation + high backspace count.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Step 4: Unified engine intercepts transaction and triggers: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600"/>
              </a:spcBef>
              <a:defRPr sz="1200">
                <a:solidFill>
                  <a:srgbClr val="FFFFFF"/>
                </a:solidFill>
              </a:defRPr>
            </a:pPr>
            <a:r>
              <a:t>★ Policy Directive: COERCION_SAFETY_INTERVENTION</a:t>
            </a:r>
          </a:p>
          <a:p>
            <a:pPr algn="l">
              <a:spcBef>
                <a:spcPts val="600"/>
              </a:spcBef>
              <a:defRPr sz="1200">
                <a:solidFill>
                  <a:srgbClr val="FFFFFF"/>
                </a:solidFill>
              </a:defRPr>
            </a:pPr>
            <a:r>
              <a:t>★ Action: Scam warning prompt + mandatory 15-min cooling delay.</a:t>
            </a:r>
          </a:p>
          <a:p>
            <a:pPr algn="l">
              <a:spcBef>
                <a:spcPts val="600"/>
              </a:spcBef>
              <a:defRPr sz="1200">
                <a:solidFill>
                  <a:srgbClr val="FFFFFF"/>
                </a:solidFill>
              </a:defRPr>
            </a:pPr>
            <a:r>
              <a:t>★ Result: Transfer prevented before money leaves the bank.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LAYER 2 DEEP-DIVE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Fortified XGBoost V4 &amp; Server-Side Feature Store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Sub-millisecond tabular inference backed by anti-injection real-time feature derivation.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Anti-Injection Real-Time Feature Store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The Vulnerability in Typical Fraud Models: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Naive APIs trust client metadata (e.g. client says velocity is 1).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Attackers tamper with payload to bypass the model.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Our Server-Side Solution (RealTimeFeatureStore):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Ingests raw minimal payment (amount, merchant, card).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Server automatically computes rolling 5m velocity.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Server calculates 30-day historical spending averages.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Threat-intel IP reputation score derived server-side.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600"/>
              </a:spcBef>
              <a:defRPr sz="1200">
                <a:solidFill>
                  <a:srgbClr val="FFFFFF"/>
                </a:solidFill>
              </a:defRPr>
            </a:pPr>
            <a:r>
              <a:t>✓ 100% Anti-Tamper &amp; Zero Client Trust.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Performance &amp; TreeSHAP Explainability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High-Throughput Vectorized Inference: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Single-pass Pandas matrix manipulation.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Scores 1,000 synthetic attacks in 32 milliseconds (0.032s).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Exact TreeSHAP Marginal Contributions: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Extracts exact booster tree split weights (`pred_contribs=True`).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Identifies top positive risk drivers (e.g. +3.44 on velocity).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Identifies negative safety anchors (e.g. -0.87 on established device).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600"/>
              </a:spcBef>
              <a:defRPr sz="1200">
                <a:solidFill>
                  <a:srgbClr val="FFFFFF"/>
                </a:solidFill>
              </a:defRPr>
            </a:pPr>
            <a:r>
              <a:t>✓ Eliminates LLM hallucinations during compliance explanations.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LAYER 3 DEEP-DIVE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Graph Network &amp; Mule Ring Link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Dismantling smurfing fan-outs and cyclic money laundering networks in real time.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Graph Analysis Capabilities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1. Directed Fund-Flow Topology: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   • Tracks nodes (Accounts, Beneficiaries, Merchants).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   • Real-time graph adjacency and transaction edges.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2. Cyclic Money Laundering Detection: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   • Traverses graph using BFS/DFS path analysis.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   • Detects closed wash-trading loops (A → B → C → A).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3. Smurfing Fan-Out &amp; Mule Funneling: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   • Flags accounts dispersing funds to 4+ new mules.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   • Flags destination accounts with rapid high in-degree inflows.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Mule Syndicate Neutralization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Scenario: Criminal syndicate laundering ₹20 Lakhs.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Step 1: Stolen money dispersed across 5 sleeper mule accounts.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Step 2: GNN engine traces directed edges and flags high degree fan-out.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Step 3: Mules attempt to recycle funds back to an aggregator.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Step 4: Cyclic flow algorithm flags closed laundering path.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600"/>
              </a:spcBef>
              <a:defRPr sz="1200">
                <a:solidFill>
                  <a:srgbClr val="FFFFFF"/>
                </a:solidFill>
              </a:defRPr>
            </a:pPr>
            <a:r>
              <a:t>★ Policy Directive: MULE_SYNDICATE_FREEZE</a:t>
            </a:r>
          </a:p>
          <a:p>
            <a:pPr algn="l">
              <a:spcBef>
                <a:spcPts val="600"/>
              </a:spcBef>
              <a:defRPr sz="1200">
                <a:solidFill>
                  <a:srgbClr val="FFFFFF"/>
                </a:solidFill>
              </a:defRPr>
            </a:pPr>
            <a:r>
              <a:t>★ Action: Entire sub-graph isolated and accounts frozen instantly.</a:t>
            </a:r>
          </a:p>
          <a:p>
            <a:pPr algn="l">
              <a:spcBef>
                <a:spcPts val="600"/>
              </a:spcBef>
              <a:defRPr sz="1200">
                <a:solidFill>
                  <a:srgbClr val="FFFFFF"/>
                </a:solidFill>
              </a:defRPr>
            </a:pPr>
            <a:r>
              <a:t>★ Result: Money laundering ring dismantled in one operation.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POLICY INTELLIGENCE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Unified Multi-Layer Decision Fusion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Ensemble weighting and targeted action directives for zero customer friction and max security.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2918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1. Frictionless Approval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Risk Score: 0% - 34%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Color Directive: Emerald Green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Genuine biometrics &amp; normal cadence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Expected spend within 30d baseline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Clean graph node topology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600"/>
              </a:spcBef>
              <a:defRPr sz="1200">
                <a:solidFill>
                  <a:srgbClr val="FFFFFF"/>
                </a:solidFill>
              </a:defRPr>
            </a:pPr>
            <a:r>
              <a:t>✓ Instant seamless payment approval with zero user friction.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2918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2. Step-Up 2FA Challenge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Risk Score: 35% - 69%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Color Directive: Amber Yellow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Moderate behavioral velocity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Unfamiliar device or evening timing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No coercion flags detected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600"/>
              </a:spcBef>
              <a:defRPr sz="1200">
                <a:solidFill>
                  <a:srgbClr val="FFFFFF"/>
                </a:solidFill>
              </a:defRPr>
            </a:pPr>
            <a:r>
              <a:t>✓ Triggers FIDO2 WebAuthn or Biometric Passkey challenge.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2918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3. Targeted Interventions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Specialized Defense Directives: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600"/>
              </a:spcBef>
              <a:defRPr sz="1200">
                <a:solidFill>
                  <a:srgbClr val="FFFFFF"/>
                </a:solidFill>
              </a:defRPr>
            </a:pPr>
            <a:r>
              <a:t>★ COERCION_SAFETY_INTERVENTION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Triggered by voice call + severe hesitation.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Introduces 15-min scam cooling delay.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600"/>
              </a:spcBef>
              <a:defRPr sz="1200">
                <a:solidFill>
                  <a:srgbClr val="FFFFFF"/>
                </a:solidFill>
              </a:defRPr>
            </a:pPr>
            <a:r>
              <a:t>★ MULE_SYNDICATE_FREEZE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Triggered by cyclic laundering loop / smurfing.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Freezes entire multi-node cluster.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ADVERSARIAL STRESS-TESTING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Red Team Simulation Engine: 6 Attack Families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Challenging the defense system with continuous stochastic synthetic fraud attacks.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291840" cy="2103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1. Account Takeover (ATO)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New device + high IP risk + location shift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Elevated transaction amount vs average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Repeated password failures prior to tx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291840" cy="2103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2. Card Testing Micro-Charges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Rapid velocity (15-30 txs / 5 mins)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Micro-amounts (₹1 - ₹100 per test)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Probing stolen card validity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291840" cy="2103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3. Low &amp; Slow Stealth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Mimicking user's normal daytime hours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Near-baseline amounts (0.8x - 1.2x)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Subtle zero-day camouflage tactics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931920"/>
            <a:ext cx="3291840" cy="2103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4. Mule Activity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Fast fund movement to newly created beneficiary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Moderate IP risk + high amount ratio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Testing account drain thresholds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3931920"/>
            <a:ext cx="3291840" cy="2103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5. Digital Arrest Coercion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Genuine user device and credentials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Severe submit hesitation &amp; active call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Tests Layer 1 biometric intervention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3931920"/>
            <a:ext cx="3291840" cy="2103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6. Mule Syndicates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Coordinated cyclic fund loops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Multi-account fan-out smurfing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Tests Layer 3 GNN graph detection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CONTINUOUS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Closed-Loop Adversarial Retraining with Balanced Replay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Turning missed attacks into fortified defensive weights while holding False Positives under 0.8%.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The Closed-Loop Retraining Pipeline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How the Model Learns Without Forgetting: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1. Red Team launches 5,000 synthetic attacks.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2. Blue Team scores transactions and records missed cases.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3. Missed attacks stored in database as candidate training data.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4. Balanced Replay Buffer generated: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   • 1,200 normal benign payments (Negative Anchor)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   • Captured adversarial misses (Positive Class)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5. Retrains XGBoost with cross-entropy loss and early stopping.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6. Serializes fortified model to disk for all worker nodes.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600"/>
              </a:spcBef>
              <a:defRPr sz="1200">
                <a:solidFill>
                  <a:srgbClr val="FFFFFF"/>
                </a:solidFill>
              </a:defRPr>
            </a:pPr>
            <a:r>
              <a:t>✓ Prevents Catastrophic Forgetting &amp; Decision Boundary Drift.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Adversarial Benchmark Results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Round 2 (Baseline Initial Model):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5,000 Stealth Adversarial Attacks Launched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Detected: 582  |  Missed: 4,418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Detection Rate: 11.64%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Round 3 (After Closed-Loop Retraining):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5,000 Held-Out Adversarial Attacks Launched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Detected: 4,874  |  Missed: 126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Detection Rate: 97.48%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600"/>
              </a:spcBef>
              <a:defRPr sz="1200">
                <a:solidFill>
                  <a:srgbClr val="FFFFFF"/>
                </a:solidFill>
              </a:defRPr>
            </a:pPr>
            <a:r>
              <a:t>★ False Negative Reduction: 97.15%</a:t>
            </a:r>
          </a:p>
          <a:p>
            <a:pPr algn="l">
              <a:spcBef>
                <a:spcPts val="600"/>
              </a:spcBef>
              <a:defRPr sz="1200">
                <a:solidFill>
                  <a:srgbClr val="FFFFFF"/>
                </a:solidFill>
              </a:defRPr>
            </a:pPr>
            <a:r>
              <a:t>★ False Positive Rate: Held at &lt;0.8%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EXPLAINABLE AI (XAI)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Grounded GenAI Explainability Layer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Translating exact TreeSHAP mathematical feature weights into human-readable compliance insights.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Mathematical Grounding (No Hallucination)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The Risk with Raw LLM Explanations: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LLMs often guess causes based on superficial patterns.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Fails regulatory banking compliance (RBI, GDPR, OCC).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Our TreeSHAP Grounded Approach: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Booster tree split margins extracted mathematically.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Top positive drivers: `[+] Velocity (+3.44)`, `[+] IP Risk (+3.06)`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Top safety anchors: `[-] Device Age (-0.74)`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LLM prompt strictly constrained to mathematical weights.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600"/>
              </a:spcBef>
              <a:defRPr sz="1200">
                <a:solidFill>
                  <a:srgbClr val="FFFFFF"/>
                </a:solidFill>
              </a:defRPr>
            </a:pPr>
            <a:r>
              <a:t>✓ 100% Mathematically Grounded &amp; Regulatory Compliant.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Sample Plain-Language Output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Sample GenAI 360° Defense Summary: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"Transaction flagged as FRAUD (99.31% probability).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The decision is mathematically driven by an abnormal surge in 5-minute velocity (+2.84 risk driver) and an elevated IP risk score (+2.70 risk driver).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Key Signals Observed: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[+] Transaction Velocity 5M (+2.84 risk driver)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[+] IP Risk Score (+2.70 risk driver)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[-] Account Age Days (-0.13 safety anchor)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Recommended Action: Trigger FIDO2 step-up challenge or route to Tier-2 fraud review."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ENGINEERING RIGOR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Technical Architecture &amp; Production Hardening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Built for zero startup crashes, high concurrency, and resilient cloud deployment.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2918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Resilient Storage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Hybrid Database Engine: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Primary: MongoDB Atlas.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Fallback: In-memory store.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Zero-crash startup guarantee.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Seamless offline demo capability.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2918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High-Speed Inference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Vectorized Performance: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Vectorized Pandas DataFrame batching.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1,000 attacks scored in 32ms.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Non-blocking Flask workers.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Sub-second Red Team execution.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2918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API Hardening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Security &amp; Protection: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Sliding-window rate limiting.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Brute force defense on auth/predict.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Enterprise HTTP security headers.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Model artifact disk serialization.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SUMMARY &amp; VISION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Future of Payment Defense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From reactive static scoring to continuous, multi-dimensional adversarial defense.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Key Breakthroughs Accomplished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1. Multi-Layer Defense Triad: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   • Layer 1 (Biometrics) stops Digital Arrest &amp; Social Engineering.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   • Layer 2 (XGBoost) stops takeover &amp; velocity anomalies in 32ms.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   • Layer 3 (GNN) dismantles multi-hop mule syndicates.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2. Continuous Adversarial Learning: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   • Closed-loop retraining boosts detection from 11.6% to 97.48%.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   • Balanced replay buffers hold False Positive Rate under 0.8%.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3. Grounded Explainable AI: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   • Exact TreeSHAP mathematical feature weighting.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Team AITIANS — Final Takeaway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"Fraud is not one-dimensional, and defense cannot be static."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By uniting interaction telemetry, sub-millisecond transaction ML, and graph topology intelligence into one continuous learning loop, we establish a robust, self-healing payment defense perimeter.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Attack. Detect. Learn. Defend.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Team: AITIANS (Army Institute of Technology, Pune)</a:t>
            </a:r>
          </a:p>
          <a:p>
            <a:pPr algn="l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GitHub: AI-DEFENSE-LAB  |  Prototype: ai-defense-lab.vercel.app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